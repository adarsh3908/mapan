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MT Bold" charset="1" panose="02030802070405020303"/>
      <p:regular r:id="rId22"/>
    </p:embeddedFont>
    <p:embeddedFont>
      <p:font typeface="Times New Roman MT" charset="1" panose="02030502070405020303"/>
      <p:regular r:id="rId23"/>
    </p:embeddedFont>
    <p:embeddedFont>
      <p:font typeface="Calibri (MS)" charset="1" panose="020F0502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5348" y="4239939"/>
            <a:ext cx="9267552" cy="90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b="true" sz="5399">
                <a:solidFill>
                  <a:srgbClr val="FF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2nd </a:t>
            </a:r>
            <a:r>
              <a:rPr lang="en-US" b="true" sz="5399">
                <a:solidFill>
                  <a:srgbClr val="FF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Mini Project Presentation</a:t>
            </a:r>
          </a:p>
          <a:p>
            <a:pPr algn="just">
              <a:lnSpc>
                <a:spcPts val="274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34414" y="360520"/>
            <a:ext cx="4162338" cy="1938977"/>
          </a:xfrm>
          <a:custGeom>
            <a:avLst/>
            <a:gdLst/>
            <a:ahLst/>
            <a:cxnLst/>
            <a:rect r="r" b="b" t="t" l="l"/>
            <a:pathLst>
              <a:path h="1938977" w="4162338">
                <a:moveTo>
                  <a:pt x="0" y="0"/>
                </a:moveTo>
                <a:lnTo>
                  <a:pt x="4162338" y="0"/>
                </a:lnTo>
                <a:lnTo>
                  <a:pt x="4162338" y="1938977"/>
                </a:lnTo>
                <a:lnTo>
                  <a:pt x="0" y="193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10628" y="2404272"/>
            <a:ext cx="11120914" cy="115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39"/>
              </a:lnSpc>
            </a:pPr>
            <a:r>
              <a:rPr lang="en-US" b="true" sz="60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 of CSE- Data Science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21921" y="7130401"/>
            <a:ext cx="5663208" cy="241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By: </a:t>
            </a:r>
          </a:p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Adarsh Prakash Singh(2300321540011)</a:t>
            </a:r>
          </a:p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Gaurav Singh(2300321540087)</a:t>
            </a:r>
          </a:p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Divyanshu Chaubey(2300321540079)</a:t>
            </a:r>
          </a:p>
          <a:p>
            <a:pPr algn="just">
              <a:lnSpc>
                <a:spcPts val="3779"/>
              </a:lnSpc>
            </a:pPr>
            <a:r>
              <a:rPr lang="en-US" b="true" sz="26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Jobanjot Singh Vohra(2300321540097)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51292" y="5124450"/>
            <a:ext cx="14778526" cy="2110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9"/>
              </a:lnSpc>
            </a:pPr>
            <a:r>
              <a:rPr lang="en-US" sz="3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Towards AI-Driven Personality Assessment: Trait Modelling and Occupational Fit Prediction for Defence and Corporate Domains (Project Mapan)</a:t>
            </a:r>
          </a:p>
          <a:p>
            <a:pPr algn="just">
              <a:lnSpc>
                <a:spcPts val="398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07749" y="329879"/>
            <a:ext cx="2872502" cy="115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>
                <a:solidFill>
                  <a:srgbClr val="FF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2199" y="2628895"/>
            <a:ext cx="9541669" cy="676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Methodology &amp; Ablation Models (Models 1–7)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Architecture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Datasets &amp; Benchmarks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 Progress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 &amp; Faking Shift Analysis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Paper &amp; Audit Gate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Remaining Work &amp; Future Scope</a:t>
            </a:r>
          </a:p>
          <a:p>
            <a:pPr algn="l" marL="742157" indent="-371079" lvl="1">
              <a:lnSpc>
                <a:spcPts val="4812"/>
              </a:lnSpc>
              <a:buFont typeface="Arial"/>
              <a:buChar char="•"/>
            </a:pPr>
            <a:r>
              <a:rPr lang="en-US" sz="34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  <a:p>
            <a:pPr algn="l">
              <a:lnSpc>
                <a:spcPts val="481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5" id="5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64316" y="582673"/>
            <a:ext cx="8618577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4631" y="2672437"/>
            <a:ext cx="1533807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Likert Self-Report Vulnerability: Traditional Big Five self-reports suffer from Socially Desirable Responding (SDR) and faking-good intent in high-stakes hiring/selection.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631" y="3929999"/>
            <a:ext cx="14537291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Uncalibrated AI Fit Predictions: Existing resume/skills-matching AI tools output raw point estimates without propagating trait measurement error or confidence intervals.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631" y="5185394"/>
            <a:ext cx="14664597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Absence of Dual-Mechanism Fusion: Prior work validates forced-choice items, response-latency tracking, and sentence embeddings individually, but lacks a fused psychometric pipeline.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4631" y="6440789"/>
            <a:ext cx="14309368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for Explainability &amp; Fairness: Automated screening tools require calibrated uncertainty bands, evidence tracing, and standalone demographic audit gates to prevent algorithmic bias.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26746" y="704850"/>
            <a:ext cx="4634508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4961" y="3126983"/>
            <a:ext cx="15338078" cy="479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build an AI-assisted decision-support system (Project Mapan) evaluating candidate trait profiles using Situational Judgment Tests (SJTs).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implement Classical Test Theory (CTT) and Item Response Theory (IRT) 2PL scoring with standard error estimation.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propagate trait-level uncertainty into 95% Confidence Interval bands for NET-seeded role profiles (Software Engineer, Data Analyst, Project Manager).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deploy a synthetic instructed-fake-good test harness (approx 0.49 - 1.27) evaluating faking-resistance across Models 1–7.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enforce non-discriminatory predictions via a standalone Fairness Audit Gate checking subgroup gaps across Age, Gender, and Regional origin.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62352" y="742950"/>
            <a:ext cx="15098574" cy="142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3"/>
              </a:lnSpc>
            </a:pPr>
            <a:r>
              <a:rPr lang="en-US" sz="755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Updated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9561" y="2414337"/>
            <a:ext cx="16699920" cy="598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6" indent="-30226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CTT &amp; IRT Trait Modeling: Computes Cronbach's Alpha (α), McDonald's Omega (ω), and 2PL IRT latent trait (θ) parameters.</a:t>
            </a:r>
          </a:p>
          <a:p>
            <a:pPr algn="just">
              <a:lnSpc>
                <a:spcPts val="3920"/>
              </a:lnSpc>
            </a:pPr>
          </a:p>
          <a:p>
            <a:pPr algn="just" marL="604526" indent="-30226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Behavioral Operators: Integrates response latency tracking, with a Λ(t_avg) penalty for rushed choices below 1500 ms, along with forced-choice consistency checks.</a:t>
            </a:r>
          </a:p>
          <a:p>
            <a:pPr algn="just">
              <a:lnSpc>
                <a:spcPts val="3920"/>
              </a:lnSpc>
            </a:pPr>
          </a:p>
          <a:p>
            <a:pPr algn="just" marL="604526" indent="-30226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NLP Sentence Embeddings: Uses sentence-transformers (all-MiniLM-L6-v2) on candidate free-text justifications to extract supplementary trait offsets.</a:t>
            </a:r>
          </a:p>
          <a:p>
            <a:pPr algn="just">
              <a:lnSpc>
                <a:spcPts val="3920"/>
              </a:lnSpc>
            </a:pPr>
          </a:p>
          <a:p>
            <a:pPr algn="just" marL="604526" indent="-30226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Uncertainty Propagation: Translates trait standard errors into weighted Euclidean distance confidence bands.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745341" y="742950"/>
            <a:ext cx="15098574" cy="142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3"/>
              </a:lnSpc>
            </a:pPr>
            <a:r>
              <a:rPr lang="en-US" sz="755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Updated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68012"/>
            <a:ext cx="16047344" cy="424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1: Big Five Self-Report Baseline (Likert scale only).</a:t>
            </a:r>
          </a:p>
          <a:p>
            <a:pPr algn="just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2 &amp; 3: Self-Report + SJT Blend and SJT-Only CTT baseline.</a:t>
            </a:r>
          </a:p>
          <a:p>
            <a:pPr algn="just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4 &amp; 5: SJT + Response Latency Tracking and Forced-Choice Consistency.</a:t>
            </a:r>
          </a:p>
          <a:p>
            <a:pPr algn="just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6: SJT + NLP Sentence Embeddings.</a:t>
            </a:r>
          </a:p>
          <a:p>
            <a:pPr algn="just" marL="734063" indent="-367031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7 (Proposed Hybrid): Fuses SJT (60%), Self-Report (15%), NLP (15%), and Latency/FC (10%) with calibrated 95% confidence intervals.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48242" y="1526911"/>
            <a:ext cx="13591515" cy="8500129"/>
          </a:xfrm>
          <a:custGeom>
            <a:avLst/>
            <a:gdLst/>
            <a:ahLst/>
            <a:cxnLst/>
            <a:rect r="r" b="b" t="t" l="l"/>
            <a:pathLst>
              <a:path h="8500129" w="13591515">
                <a:moveTo>
                  <a:pt x="0" y="0"/>
                </a:moveTo>
                <a:lnTo>
                  <a:pt x="13591516" y="0"/>
                </a:lnTo>
                <a:lnTo>
                  <a:pt x="13591516" y="8500128"/>
                </a:lnTo>
                <a:lnTo>
                  <a:pt x="0" y="8500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06" r="0" b="-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28355" y="-52982"/>
            <a:ext cx="9080302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10735" y="1098271"/>
            <a:ext cx="3490912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1060" y="3348710"/>
            <a:ext cx="15822296" cy="500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Open-Source Psychometrics Project: Big Five 50-item benchmark dataset ($n = 1,015,342$) with completion times and repeat counts.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PANDORA &amp; Essay Corpora: Self-report labeled text corpora (~2,400 essays) for sentence transformer regressor training.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O*NET Database: US Department of Labor occupational profiles for Software Engineer (15-1252.00), Data Analyst (15-2051.00), and Project Manager (11-9199.00).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3333" y="1950509"/>
            <a:ext cx="16230600" cy="7905630"/>
          </a:xfrm>
          <a:custGeom>
            <a:avLst/>
            <a:gdLst/>
            <a:ahLst/>
            <a:cxnLst/>
            <a:rect r="r" b="b" t="t" l="l"/>
            <a:pathLst>
              <a:path h="7905630" w="16230600">
                <a:moveTo>
                  <a:pt x="0" y="0"/>
                </a:moveTo>
                <a:lnTo>
                  <a:pt x="16230600" y="0"/>
                </a:lnTo>
                <a:lnTo>
                  <a:pt x="16230600" y="7905630"/>
                </a:lnTo>
                <a:lnTo>
                  <a:pt x="0" y="7905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97" r="0" b="-119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06023" y="76829"/>
            <a:ext cx="11285220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 Progress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50186" y="704850"/>
            <a:ext cx="3304342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141868"/>
            <a:ext cx="18288000" cy="707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Ablation Performance &amp; Standard Error:</a:t>
            </a:r>
          </a:p>
          <a:p>
            <a:pPr algn="just" marL="1554483" indent="-518161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1 (Self-Report Baseline): Measurement $SE = \pm 18.0%$, Faking Shift = $+28.5%$ (Low Resistance).</a:t>
            </a:r>
          </a:p>
          <a:p>
            <a:pPr algn="just" marL="1554483" indent="-518161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7 (Full Fused Hybrid): Measurement $SE = \pm 3.5%$, Faking Shift = $+6.2%$ (78.2% Reduction in Faking Inflation).</a:t>
            </a:r>
          </a:p>
          <a:p>
            <a:pPr algn="just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Occupational Fit Evaluation (Sample Outputs):</a:t>
            </a:r>
          </a:p>
          <a:p>
            <a:pPr algn="just" marL="1554483" indent="-518161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Software Engineer: $94.2%$ Fit (95% CI: $[90.8% - 97.6%]$), No low-evidence traits.</a:t>
            </a:r>
          </a:p>
          <a:p>
            <a:pPr algn="just" marL="1554483" indent="-518161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Analyst: $91.8%$ Fit (95% CI: $[87.5% - 96.1%]$), Flagged: Agreeableness ($SE = 0.18$).</a:t>
            </a:r>
          </a:p>
          <a:p>
            <a:pPr algn="just" marL="1554483" indent="-518161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Project Manager: $85.4%$ Fit (95% CI: $[80.2% - 90.6%]$), No low-evidence traits.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42571" y="1399630"/>
            <a:ext cx="13002858" cy="8887370"/>
          </a:xfrm>
          <a:custGeom>
            <a:avLst/>
            <a:gdLst/>
            <a:ahLst/>
            <a:cxnLst/>
            <a:rect r="r" b="b" t="t" l="l"/>
            <a:pathLst>
              <a:path h="8887370" w="13002858">
                <a:moveTo>
                  <a:pt x="0" y="0"/>
                </a:moveTo>
                <a:lnTo>
                  <a:pt x="13002858" y="0"/>
                </a:lnTo>
                <a:lnTo>
                  <a:pt x="13002858" y="8887370"/>
                </a:lnTo>
                <a:lnTo>
                  <a:pt x="0" y="88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11803" y="-157772"/>
            <a:ext cx="12417266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Paper Submission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95386" y="1422121"/>
            <a:ext cx="10447069" cy="8454471"/>
          </a:xfrm>
          <a:custGeom>
            <a:avLst/>
            <a:gdLst/>
            <a:ahLst/>
            <a:cxnLst/>
            <a:rect r="r" b="b" t="t" l="l"/>
            <a:pathLst>
              <a:path h="8454471" w="10447069">
                <a:moveTo>
                  <a:pt x="0" y="0"/>
                </a:moveTo>
                <a:lnTo>
                  <a:pt x="10447070" y="0"/>
                </a:lnTo>
                <a:lnTo>
                  <a:pt x="10447070" y="8454471"/>
                </a:lnTo>
                <a:lnTo>
                  <a:pt x="0" y="845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5386" y="76829"/>
            <a:ext cx="12417266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Paper Submission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40476" y="1098271"/>
            <a:ext cx="7807047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Remaining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2984" y="3067787"/>
            <a:ext cx="14921295" cy="41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542" indent="-279271" lvl="1">
              <a:lnSpc>
                <a:spcPts val="3611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Computerized Adaptive Testing (CAT): Integrate dynamic IRT item selection algorithm to reduce SJT item count while maintaining theta precision.</a:t>
            </a:r>
          </a:p>
          <a:p>
            <a:pPr algn="l" marL="558542" indent="-279271" lvl="1">
              <a:lnSpc>
                <a:spcPts val="3611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Defence Domain Screening (Node B Extension): Expand GTO-style situational scenarios for defence operational screening.</a:t>
            </a:r>
          </a:p>
          <a:p>
            <a:pPr algn="l" marL="558542" indent="-279271" lvl="1">
              <a:lnSpc>
                <a:spcPts val="3611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Longitudinal Criterion Validation: Track candidate role performance over multi-year operational timelines.</a:t>
            </a:r>
          </a:p>
          <a:p>
            <a:pPr algn="l" marL="558542" indent="-279271" lvl="1">
              <a:lnSpc>
                <a:spcPts val="3611"/>
              </a:lnSpc>
              <a:buFont typeface="Arial"/>
              <a:buChar char="•"/>
            </a:pPr>
            <a:r>
              <a:rPr lang="en-US" sz="25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Production Deployment: Containerize FastAPI backend with Docker and deploy React dashboard to cloud staging.</a:t>
            </a:r>
          </a:p>
          <a:p>
            <a:pPr algn="l">
              <a:lnSpc>
                <a:spcPts val="3611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3" id="3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1507374" y="2050142"/>
          <a:ext cx="3771900" cy="3143250"/>
        </p:xfrm>
        <a:graphic>
          <a:graphicData uri="http://schemas.openxmlformats.org/presentationml/2006/ole">
            <p:oleObj imgW="4521200" imgH="3886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706076" y="470249"/>
            <a:ext cx="4875847" cy="157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9"/>
              </a:lnSpc>
            </a:pPr>
            <a:r>
              <a:rPr lang="en-US" sz="82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Challenges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99" y="-38100"/>
            <a:ext cx="18326100" cy="10325100"/>
          </a:xfrm>
          <a:custGeom>
            <a:avLst/>
            <a:gdLst/>
            <a:ahLst/>
            <a:cxnLst/>
            <a:rect r="r" b="b" t="t" l="l"/>
            <a:pathLst>
              <a:path h="10325100" w="18326100">
                <a:moveTo>
                  <a:pt x="0" y="0"/>
                </a:moveTo>
                <a:lnTo>
                  <a:pt x="18326100" y="0"/>
                </a:lnTo>
                <a:lnTo>
                  <a:pt x="18326100" y="10325100"/>
                </a:lnTo>
                <a:lnTo>
                  <a:pt x="0" y="1032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4" id="4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161588" y="4482"/>
            <a:ext cx="5389026" cy="169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85955" y="9617393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61465"/>
            <a:ext cx="16450099" cy="872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"ConFit v3: Improving resume-job matching with LLM-based re-ranking," arXiv preprint arXiv:2605.09760, 2026.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"Qu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antifying and mitigating socially desirable responding in LLMs: A desirability-matched graded forced-choice psychometric study," arXiv preprint arXiv:2602.17262, 2026.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T.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Seitz, M. Spengler, and T. Meiser, "What if applicants fake their responses?: Modeling faking and response styles in high-stakes assessments using the Multidimensional Nominal Response Model," Educational and Psychological Measurement, 2025. doi: 10.1177/00131644241307560.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"Automated item generation for personality assessment: Development and validation of large-language-model-derived HEXACO situational judgment tests," Journal of Research in Personality, vol. 114, p. 104562, 2025.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"User modeling for detecting faking-good intent in online personality questionnaires based on mouse dynamics," Multimedia Tools and Applications, Springer, 2025.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S. K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rumm, A. M. Thiel, N. Reznik, J.-P. Freudenstein, P. Schäpers, and P. Mussel, "Creating a psychological test in a few seconds: Can ChatGPT develop a psychometrically sound Situational Judgment Test?" European Journal of Psychological Assessment, 2024. doi: 10.1027/1015-5759/a000878.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"Automatic item generation for personality Situational Judgment Tests with Large Language Models," arXiv preprint arXiv:2412.12144, 2024.</a:t>
            </a:r>
          </a:p>
          <a:p>
            <a:pPr algn="just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"Driving generative agents with their personality: Dataset release of Open-Source Psychometrics Project (n=1,015,342)," arXiv preprint arXiv:2402.14879, 2024.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99" y="-38100"/>
            <a:ext cx="18326100" cy="10325100"/>
          </a:xfrm>
          <a:custGeom>
            <a:avLst/>
            <a:gdLst/>
            <a:ahLst/>
            <a:cxnLst/>
            <a:rect r="r" b="b" t="t" l="l"/>
            <a:pathLst>
              <a:path h="10325100" w="18326100">
                <a:moveTo>
                  <a:pt x="0" y="0"/>
                </a:moveTo>
                <a:lnTo>
                  <a:pt x="18326100" y="0"/>
                </a:lnTo>
                <a:lnTo>
                  <a:pt x="18326100" y="10325100"/>
                </a:lnTo>
                <a:lnTo>
                  <a:pt x="0" y="10325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699" y="110909"/>
            <a:ext cx="2955350" cy="1311212"/>
            <a:chOff x="0" y="0"/>
            <a:chExt cx="3940467" cy="1748282"/>
          </a:xfrm>
        </p:grpSpPr>
        <p:sp>
          <p:nvSpPr>
            <p:cNvPr name="Freeform 4" id="4" descr="ABESEC OLA"/>
            <p:cNvSpPr/>
            <p:nvPr/>
          </p:nvSpPr>
          <p:spPr>
            <a:xfrm flipH="false" flipV="false" rot="0">
              <a:off x="0" y="0"/>
              <a:ext cx="3940429" cy="1748282"/>
            </a:xfrm>
            <a:custGeom>
              <a:avLst/>
              <a:gdLst/>
              <a:ahLst/>
              <a:cxnLst/>
              <a:rect r="r" b="b" t="t" l="l"/>
              <a:pathLst>
                <a:path h="1748282" w="3940429">
                  <a:moveTo>
                    <a:pt x="0" y="0"/>
                  </a:moveTo>
                  <a:lnTo>
                    <a:pt x="3940429" y="0"/>
                  </a:lnTo>
                  <a:lnTo>
                    <a:pt x="3940429" y="1748282"/>
                  </a:lnTo>
                  <a:lnTo>
                    <a:pt x="0" y="1748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12972" y="3856123"/>
            <a:ext cx="5780842" cy="174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FF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85955" y="9617393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DAHQxYvu5DU</dc:identifier>
  <dcterms:modified xsi:type="dcterms:W3CDTF">2011-08-01T06:04:30Z</dcterms:modified>
  <cp:revision>1</cp:revision>
  <dc:title>ppt</dc:title>
</cp:coreProperties>
</file>